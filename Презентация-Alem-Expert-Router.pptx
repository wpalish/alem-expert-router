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645920" y="7132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Astana Hub · тех-задача Alem School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 Expert Router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58368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9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Умное распределение экспертов, менторов и фрилансеров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9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входящим заявкам — по компетенциям, загрузке и приоритетам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58368" y="5852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Алишер Нурсаин</a:t>
            </a:r>
            <a:pPr indent="0" marL="0">
              <a:buNone/>
            </a:pPr>
            <a:r>
              <a:rPr lang="en-US" sz="1500" dirty="0">
                <a:solidFill>
                  <a:srgbClr val="C9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AI/LLM-инженер · Python, FastAPI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14232" y="2770632"/>
            <a:ext cx="1005840" cy="-548640"/>
          </a:xfrm>
          <a:prstGeom prst="line">
            <a:avLst/>
          </a:prstGeom>
          <a:noFill/>
          <a:ln w="19050">
            <a:solidFill>
              <a:srgbClr val="6C5CE7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14232" y="2770632"/>
            <a:ext cx="914400" cy="822960"/>
          </a:xfrm>
          <a:prstGeom prst="line">
            <a:avLst/>
          </a:prstGeom>
          <a:noFill/>
          <a:ln w="19050">
            <a:solidFill>
              <a:srgbClr val="6C5CE7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20072" y="2221992"/>
            <a:ext cx="1005840" cy="822960"/>
          </a:xfrm>
          <a:prstGeom prst="line">
            <a:avLst/>
          </a:prstGeom>
          <a:noFill/>
          <a:ln w="19050">
            <a:solidFill>
              <a:srgbClr val="6C5CE7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28632" y="3593592"/>
            <a:ext cx="1280160" cy="640080"/>
          </a:xfrm>
          <a:prstGeom prst="line">
            <a:avLst/>
          </a:prstGeom>
          <a:noFill/>
          <a:ln w="19050">
            <a:solidFill>
              <a:srgbClr val="6C5CE7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25912" y="3044952"/>
            <a:ext cx="182880" cy="1188720"/>
          </a:xfrm>
          <a:prstGeom prst="line">
            <a:avLst/>
          </a:prstGeom>
          <a:noFill/>
          <a:ln w="19050">
            <a:solidFill>
              <a:srgbClr val="6C5CE7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25912" y="3044952"/>
            <a:ext cx="1097280" cy="640080"/>
          </a:xfrm>
          <a:prstGeom prst="line">
            <a:avLst/>
          </a:prstGeom>
          <a:noFill/>
          <a:ln w="19050">
            <a:solidFill>
              <a:srgbClr val="6C5CE7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08792" y="4233672"/>
            <a:ext cx="914400" cy="-548640"/>
          </a:xfrm>
          <a:prstGeom prst="line">
            <a:avLst/>
          </a:prstGeom>
          <a:noFill/>
          <a:ln w="19050">
            <a:solidFill>
              <a:srgbClr val="6C5CE7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2651760"/>
            <a:ext cx="237744" cy="237744"/>
          </a:xfrm>
          <a:prstGeom prst="ellipse">
            <a:avLst/>
          </a:prstGeom>
          <a:solidFill>
            <a:srgbClr val="4F46E5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0" y="2103120"/>
            <a:ext cx="237744" cy="237744"/>
          </a:xfrm>
          <a:prstGeom prst="ellipse">
            <a:avLst/>
          </a:prstGeom>
          <a:solidFill>
            <a:srgbClr val="6C5CE7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509760" y="3474720"/>
            <a:ext cx="237744" cy="237744"/>
          </a:xfrm>
          <a:prstGeom prst="ellipse">
            <a:avLst/>
          </a:prstGeom>
          <a:solidFill>
            <a:srgbClr val="4F46E5">
              <a:alpha val="8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607040" y="2926080"/>
            <a:ext cx="237744" cy="237744"/>
          </a:xfrm>
          <a:prstGeom prst="ellipse">
            <a:avLst/>
          </a:prstGeom>
          <a:solidFill>
            <a:srgbClr val="6C5CE7">
              <a:alpha val="8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789920" y="4114800"/>
            <a:ext cx="237744" cy="23774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0" name="Shape 18"/>
          <p:cNvSpPr/>
          <p:nvPr/>
        </p:nvSpPr>
        <p:spPr>
          <a:xfrm>
            <a:off x="11704320" y="3566160"/>
            <a:ext cx="237744" cy="237744"/>
          </a:xfrm>
          <a:prstGeom prst="ellipse">
            <a:avLst/>
          </a:prstGeom>
          <a:solidFill>
            <a:srgbClr val="6C5CE7">
              <a:alpha val="8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0972800" cy="1234440"/>
          </a:xfrm>
          <a:prstGeom prst="roundRect">
            <a:avLst>
              <a:gd name="adj" fmla="val 8889"/>
            </a:avLst>
          </a:prstGeom>
          <a:solidFill>
            <a:srgbClr val="EEF0FB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4173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</a:t>
            </a:r>
            <a:pPr indent="0" marL="0">
              <a:buNone/>
            </a:pPr>
            <a:r>
              <a:rPr lang="en-US" sz="1800" i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удобного и прозрачного механизма управления заявками и подбора исполнителей в действующих программах.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971800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9260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Ручное распределение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331927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Координатор раздаёт заявки вручную — медленно и субъективно.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40690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не учитывается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446227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Одни менторы перегружены, другие простаивают — нет баланса.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5257800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52120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Непрозрачно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560527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Неясно, почему назначен именно этот эксперт — нет объяснения.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— система авто-назначения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заявка автоматически получает лучшего свободного исполнителя — по трём осям: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688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Компетенции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39319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Строгая проверка покрытия требуемых навыков + оценка глубины владения.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4688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6C5CE7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663440" y="39319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Балансировка: ёмкость списывается на лету, никто не перегружен.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4688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6C5CE7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66760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Приоритеты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66760" y="39319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Высокоприоритетные заявки получают лучших исполнителей первыми.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работает алгоритм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32688" y="187452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32688" y="3200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Отсеять недоступных, без нужных навыков или без свободной ёмкости.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4096512" y="1554480"/>
            <a:ext cx="365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434840" y="155448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187452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4727448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27448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0–100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27448" y="3200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Компетентность + балансировка загрузки + рейтинг (веса настраиваются).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7891272" y="1554480"/>
            <a:ext cx="365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22208" y="187452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8522208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22208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522208" y="3200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приоритету: высокий приоритет получает лучших исполнителей первым.</a:t>
            </a:r>
            <a:endParaRPr lang="en-US" sz="138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10927080" cy="1234440"/>
          </a:xfrm>
          <a:prstGeom prst="roundRect">
            <a:avLst>
              <a:gd name="adj" fmla="val 8889"/>
            </a:avLst>
          </a:prstGeom>
          <a:solidFill>
            <a:srgbClr val="EEF0FB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0120" y="4864608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8646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828800" y="4572000"/>
            <a:ext cx="9509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Прозрачность: </a:t>
            </a:r>
            <a:pPr indent="0" marL="0">
              <a:buNone/>
            </a:pPr>
            <a:r>
              <a:rPr lang="en-US" sz="17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назначение сопровождается списком причин — почему выбран именно этот человек.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закрывает — 1:1 с постановкой задачи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270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6903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Требование заказчика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 решено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Подбор по компетенциям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Проверка покрытия навыков + оценка глубины владения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Учёт загрузки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Балансировка ёмкости на лету — без перегруза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Учёт приоритетов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Заявки обрабатываются по приоритету, затем по сроку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Прозрачность ресурсов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Объяснение каждого назначения + дашборд загрузки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Без роста затрат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Полностью автоматический прогон, ноль ручного труда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Управление заявками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 API приёма заявок и пула исполнителей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 — уже работает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1264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17320"/>
            <a:ext cx="6126480" cy="502920"/>
          </a:xfrm>
          <a:prstGeom prst="roundRect">
            <a:avLst>
              <a:gd name="adj" fmla="val 21818"/>
            </a:avLst>
          </a:prstGeom>
          <a:solidFill>
            <a:srgbClr val="1B1A3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581912"/>
            <a:ext cx="164592" cy="164592"/>
          </a:xfrm>
          <a:prstGeom prst="ellipse">
            <a:avLst/>
          </a:prstGeom>
          <a:solidFill>
            <a:srgbClr val="F7637C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1581912"/>
            <a:ext cx="164592" cy="164592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7" name="Shape 5"/>
          <p:cNvSpPr/>
          <p:nvPr/>
        </p:nvSpPr>
        <p:spPr>
          <a:xfrm>
            <a:off x="1426464" y="1581912"/>
            <a:ext cx="164592" cy="164592"/>
          </a:xfrm>
          <a:prstGeom prst="ellipse">
            <a:avLst/>
          </a:prstGeom>
          <a:solidFill>
            <a:srgbClr val="4FB477"/>
          </a:solidFill>
          <a:ln/>
        </p:spPr>
      </p:sp>
      <p:sp>
        <p:nvSpPr>
          <p:cNvPr id="8" name="Text 6"/>
          <p:cNvSpPr/>
          <p:nvPr/>
        </p:nvSpPr>
        <p:spPr>
          <a:xfrm>
            <a:off x="1783080" y="14173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localhost:8000  —  панель распределения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24028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EEF0F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402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83080" y="22219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Чат-бот поддержки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783080" y="25694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Сабина · ml 5, python 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83080" y="2953512"/>
            <a:ext cx="4572000" cy="64008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4" name="Shape 12"/>
          <p:cNvSpPr/>
          <p:nvPr/>
        </p:nvSpPr>
        <p:spPr>
          <a:xfrm>
            <a:off x="1783080" y="2953512"/>
            <a:ext cx="4572000" cy="6400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329184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EEF0F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2918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83080" y="32735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Бэкенд распределения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783080" y="36210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Айгерим · python 5, fastapi 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783080" y="4005072"/>
            <a:ext cx="4572000" cy="64008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20" name="Shape 18"/>
          <p:cNvSpPr/>
          <p:nvPr/>
        </p:nvSpPr>
        <p:spPr>
          <a:xfrm>
            <a:off x="1783080" y="4005072"/>
            <a:ext cx="4572000" cy="6400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34340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EEF0F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3434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83080" y="43251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Веб-портал заявок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783080" y="467258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Жанель · react 5, ts 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783080" y="5056632"/>
            <a:ext cx="4572000" cy="64008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26" name="Shape 24"/>
          <p:cNvSpPr/>
          <p:nvPr/>
        </p:nvSpPr>
        <p:spPr>
          <a:xfrm>
            <a:off x="1783080" y="5056632"/>
            <a:ext cx="4526280" cy="6400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7" name="Shape 25"/>
          <p:cNvSpPr/>
          <p:nvPr/>
        </p:nvSpPr>
        <p:spPr>
          <a:xfrm>
            <a:off x="7086600" y="1417320"/>
            <a:ext cx="4480560" cy="1097280"/>
          </a:xfrm>
          <a:prstGeom prst="roundRect">
            <a:avLst>
              <a:gd name="adj" fmla="val 10000"/>
            </a:avLst>
          </a:prstGeom>
          <a:solidFill>
            <a:srgbClr val="EEF0FB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60920" y="14173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8778240" y="14173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тестов зелёные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086600" y="2697480"/>
            <a:ext cx="4480560" cy="1097280"/>
          </a:xfrm>
          <a:prstGeom prst="roundRect">
            <a:avLst>
              <a:gd name="adj" fmla="val 10000"/>
            </a:avLst>
          </a:prstGeom>
          <a:solidFill>
            <a:srgbClr val="EEF0FB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60920" y="26974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8778240" y="26974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API-эндпоинтов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086600" y="3977640"/>
            <a:ext cx="4480560" cy="1097280"/>
          </a:xfrm>
          <a:prstGeom prst="roundRect">
            <a:avLst>
              <a:gd name="adj" fmla="val 10000"/>
            </a:avLst>
          </a:prstGeom>
          <a:solidFill>
            <a:srgbClr val="EEF0FB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60920" y="39776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8778240" y="3977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объяснимость назначений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86600" y="5349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идея — запущенный код.  </a:t>
            </a:r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github.com/wpalish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и стек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71323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463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Веб-дашборд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31920" y="1463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JS · экран назначений и загрузки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0" y="22128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71323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423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· FastAPI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0" y="24231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/assign · /dashboard · /experts · /requests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31729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7132320" cy="777240"/>
          </a:xfrm>
          <a:prstGeom prst="roundRect">
            <a:avLst>
              <a:gd name="adj" fmla="val 14118"/>
            </a:avLst>
          </a:prstGeom>
          <a:solidFill>
            <a:srgbClr val="EEF0FB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33832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Движок матчинга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31920" y="3383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ядро: оценка соответствия + распределение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41330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71323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4343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Хранилище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31920" y="43434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(MVP) → PostgreSQL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0" y="1965960"/>
            <a:ext cx="3291840" cy="548640"/>
          </a:xfrm>
          <a:prstGeom prst="roundRect">
            <a:avLst>
              <a:gd name="adj" fmla="val 20000"/>
            </a:avLst>
          </a:prstGeom>
          <a:solidFill>
            <a:srgbClr val="EEF0FB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0" y="1965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0" y="2679192"/>
            <a:ext cx="3291840" cy="548640"/>
          </a:xfrm>
          <a:prstGeom prst="roundRect">
            <a:avLst>
              <a:gd name="adj" fmla="val 20000"/>
            </a:avLst>
          </a:prstGeom>
          <a:solidFill>
            <a:srgbClr val="EEF0FB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0" y="26791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29600" y="3392424"/>
            <a:ext cx="3291840" cy="548640"/>
          </a:xfrm>
          <a:prstGeom prst="roundRect">
            <a:avLst>
              <a:gd name="adj" fmla="val 20000"/>
            </a:avLst>
          </a:prstGeom>
          <a:solidFill>
            <a:srgbClr val="EEF0FB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0" y="33924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v2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229600" y="4105656"/>
            <a:ext cx="3291840" cy="548640"/>
          </a:xfrm>
          <a:prstGeom prst="roundRect">
            <a:avLst>
              <a:gd name="adj" fmla="val 20000"/>
            </a:avLst>
          </a:prstGeom>
          <a:solidFill>
            <a:srgbClr val="EEF0FB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0" y="41056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229600" y="4818888"/>
            <a:ext cx="3291840" cy="548640"/>
          </a:xfrm>
          <a:prstGeom prst="roundRect">
            <a:avLst>
              <a:gd name="adj" fmla="val 20000"/>
            </a:avLst>
          </a:prstGeom>
          <a:solidFill>
            <a:srgbClr val="EEF0FB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0" y="48188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Дорожная карта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456432" cy="3840480"/>
          </a:xfrm>
          <a:prstGeom prst="roundRect">
            <a:avLst>
              <a:gd name="adj" fmla="val 3175"/>
            </a:avLst>
          </a:prstGeom>
          <a:solidFill>
            <a:srgbClr val="EEF0FB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— готово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60120" y="2971800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297180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36576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Движок матчинга, REST API, дашборд, 15 тестов.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0" y="1645920"/>
            <a:ext cx="320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370832" y="1645920"/>
            <a:ext cx="3456432" cy="38404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90872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90872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90872" y="301752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БД, кабинет подачи заявок, роли и уведомления.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845552" y="1645920"/>
            <a:ext cx="320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101584" y="1645920"/>
            <a:ext cx="3456432" cy="38404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34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21624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21624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AI-слой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21624" y="301752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Заявку пишут текстом → LLM извлекает компетенции; прогноз сроков, авто-ребаланс.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4599432"/>
            <a:ext cx="1005840" cy="-548640"/>
          </a:xfrm>
          <a:prstGeom prst="line">
            <a:avLst/>
          </a:prstGeom>
          <a:noFill/>
          <a:ln w="19050">
            <a:solidFill>
              <a:srgbClr val="6C5CE7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97112" y="4599432"/>
            <a:ext cx="914400" cy="822960"/>
          </a:xfrm>
          <a:prstGeom prst="line">
            <a:avLst/>
          </a:prstGeom>
          <a:noFill/>
          <a:ln w="19050">
            <a:solidFill>
              <a:srgbClr val="6C5CE7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02952" y="4050792"/>
            <a:ext cx="1005840" cy="822960"/>
          </a:xfrm>
          <a:prstGeom prst="line">
            <a:avLst/>
          </a:prstGeom>
          <a:noFill/>
          <a:ln w="19050">
            <a:solidFill>
              <a:srgbClr val="6C5CE7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11512" y="5422392"/>
            <a:ext cx="1280160" cy="640080"/>
          </a:xfrm>
          <a:prstGeom prst="line">
            <a:avLst/>
          </a:prstGeom>
          <a:noFill/>
          <a:ln w="19050">
            <a:solidFill>
              <a:srgbClr val="6C5CE7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8792" y="4873752"/>
            <a:ext cx="182880" cy="1188720"/>
          </a:xfrm>
          <a:prstGeom prst="line">
            <a:avLst/>
          </a:prstGeom>
          <a:noFill/>
          <a:ln w="19050">
            <a:solidFill>
              <a:srgbClr val="6C5CE7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08792" y="4873752"/>
            <a:ext cx="1097280" cy="640080"/>
          </a:xfrm>
          <a:prstGeom prst="line">
            <a:avLst/>
          </a:prstGeom>
          <a:noFill/>
          <a:ln w="19050">
            <a:solidFill>
              <a:srgbClr val="6C5CE7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1672" y="6062472"/>
            <a:ext cx="914400" cy="-548640"/>
          </a:xfrm>
          <a:prstGeom prst="line">
            <a:avLst/>
          </a:prstGeom>
          <a:noFill/>
          <a:ln w="19050">
            <a:solidFill>
              <a:srgbClr val="6C5CE7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4480560"/>
            <a:ext cx="237744" cy="237744"/>
          </a:xfrm>
          <a:prstGeom prst="ellipse">
            <a:avLst/>
          </a:prstGeom>
          <a:solidFill>
            <a:srgbClr val="4F46E5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0" y="3931920"/>
            <a:ext cx="237744" cy="237744"/>
          </a:xfrm>
          <a:prstGeom prst="ellipse">
            <a:avLst/>
          </a:prstGeom>
          <a:solidFill>
            <a:srgbClr val="6C5CE7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692640" y="5303520"/>
            <a:ext cx="237744" cy="237744"/>
          </a:xfrm>
          <a:prstGeom prst="ellipse">
            <a:avLst/>
          </a:prstGeom>
          <a:solidFill>
            <a:srgbClr val="4F46E5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89920" y="4754880"/>
            <a:ext cx="237744" cy="237744"/>
          </a:xfrm>
          <a:prstGeom prst="ellipse">
            <a:avLst/>
          </a:prstGeom>
          <a:solidFill>
            <a:srgbClr val="6C5CE7">
              <a:alpha val="8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0" y="5943600"/>
            <a:ext cx="237744" cy="23774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0" y="5394960"/>
            <a:ext cx="237744" cy="237744"/>
          </a:xfrm>
          <a:prstGeom prst="ellipse">
            <a:avLst/>
          </a:prstGeom>
          <a:solidFill>
            <a:srgbClr val="6C5CE7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73152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6C5CE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731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 показать прототип на созвоне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58368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Алишер Нурсаин</a:t>
            </a:r>
            <a:pPr indent="0" marL="0">
              <a:buNone/>
            </a:pPr>
            <a:r>
              <a:rPr lang="en-US" sz="1800" dirty="0">
                <a:solidFill>
                  <a:srgbClr val="C9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AI/LLM-инженер · Python, FastAPI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прототипа:  github.com/wpalish/alem-expert-router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Профиль:  github.com/wpalish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" y="4983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Демо:  wpalish.github.io/ai-studio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368" y="5486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Почта:  alisher.nursain@gmail.com   ·   +7 701 466 4316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Alem Expert Router</dc:title>
  <dc:subject>PptxGenJS Presentation</dc:subject>
  <dc:creator>Алишер Нурсаин</dc:creator>
  <cp:lastModifiedBy>Алишер Нурсаин</cp:lastModifiedBy>
  <cp:revision>1</cp:revision>
  <dcterms:created xsi:type="dcterms:W3CDTF">2026-06-25T06:12:11Z</dcterms:created>
  <dcterms:modified xsi:type="dcterms:W3CDTF">2026-06-25T06:12:11Z</dcterms:modified>
</cp:coreProperties>
</file>